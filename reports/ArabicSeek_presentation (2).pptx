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6000" b="1" i="0">
                <a:solidFill>
                  <a:srgbClr val="16243F"/>
                </a:solidFill>
                <a:latin typeface="Calibri"/>
              </a:rPr>
              <a:t>ArabicSeek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0" i="0">
                <a:solidFill>
                  <a:srgbClr val="8C6E2C"/>
                </a:solidFill>
                <a:latin typeface="Calibri"/>
              </a:rPr>
              <a:t>An End-to-End Semantic Retrieval and Hybrid Summarization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0" i="0">
                <a:solidFill>
                  <a:srgbClr val="8C6E2C"/>
                </a:solidFill>
                <a:latin typeface="Calibri"/>
              </a:rPr>
              <a:t>Platform for Arabic News Archives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16243F"/>
                </a:solidFill>
                <a:latin typeface="Calibri"/>
              </a:rPr>
              <a:t>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3D4659"/>
                </a:solidFill>
                <a:latin typeface="Calibri"/>
              </a:rPr>
              <a:t>Faculty of Information Technology, Middle East University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5E6678"/>
                </a:solidFill>
                <a:latin typeface="Calibri"/>
              </a:rPr>
              <a:t>Amman, Jordan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The Problem: Searching Arabic News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7680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43F"/>
                </a:solidFill>
                <a:latin typeface="Calibri"/>
              </a:rPr>
              <a:t>Arabic news archives grow by thousands of articles per day (Al Jazeera, BBC Arabic, Al Arabiya).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3D4659"/>
                </a:solidFill>
                <a:latin typeface="Calibri"/>
              </a:rPr>
              <a:t>Keyword search (BM25) systematically fails on Arabic for three reasons:</a:t>
            </a:r>
          </a:p>
          <a:p>
            <a:pPr algn="l" lvl="1">
              <a:lnSpc>
                <a:spcPct val="106000"/>
              </a:lnSpc>
              <a:spcAft>
                <a:spcPts val="1000"/>
              </a:spcAft>
            </a:pPr>
            <a:r>
              <a:rPr sz="1700" b="0" i="0">
                <a:solidFill>
                  <a:srgbClr val="5E6678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3D4659"/>
                </a:solidFill>
                <a:latin typeface="Calibri"/>
              </a:rPr>
              <a:t>Rich morphology — one root yields dozens of surface forms, so a query term may never appear verbatim.</a:t>
            </a:r>
          </a:p>
          <a:p>
            <a:pPr algn="l" lvl="1">
              <a:lnSpc>
                <a:spcPct val="106000"/>
              </a:lnSpc>
              <a:spcAft>
                <a:spcPts val="1000"/>
              </a:spcAft>
            </a:pPr>
            <a:r>
              <a:rPr sz="1700" b="0" i="0">
                <a:solidFill>
                  <a:srgbClr val="5E6678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3D4659"/>
                </a:solidFill>
                <a:latin typeface="Calibri"/>
              </a:rPr>
              <a:t>Dialectal &amp; orthographic variation — the same concept is spelled differently across editions.</a:t>
            </a:r>
          </a:p>
          <a:p>
            <a:pPr algn="l" lvl="1">
              <a:lnSpc>
                <a:spcPct val="106000"/>
              </a:lnSpc>
              <a:spcAft>
                <a:spcPts val="1000"/>
              </a:spcAft>
            </a:pPr>
            <a:r>
              <a:rPr sz="1700" b="0" i="0">
                <a:solidFill>
                  <a:srgbClr val="5E6678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3D4659"/>
                </a:solidFill>
                <a:latin typeface="Calibri"/>
              </a:rPr>
              <a:t>Vocabulary mismatch — natural-language queries share few tokens with relevant documents.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43F"/>
                </a:solidFill>
                <a:latin typeface="Calibri"/>
              </a:rPr>
              <a:t>Outcome: poor recall, missed synonyms, and eroded trust over long archives.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103120"/>
            <a:ext cx="3063240" cy="356616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377440"/>
            <a:ext cx="2560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THE GAP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 i="0">
                <a:solidFill>
                  <a:srgbClr val="16243F"/>
                </a:solidFill>
                <a:latin typeface="Calibri"/>
              </a:rPr>
              <a:t>Retrieve by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8C6E2C"/>
                </a:solidFill>
                <a:latin typeface="Calibri"/>
              </a:rPr>
              <a:t>meaning,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 i="0">
                <a:solidFill>
                  <a:srgbClr val="16243F"/>
                </a:solidFill>
                <a:latin typeface="Calibri"/>
              </a:rPr>
              <a:t>not by surface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 i="0">
                <a:solidFill>
                  <a:srgbClr val="16243F"/>
                </a:solidFill>
                <a:latin typeface="Calibri"/>
              </a:rPr>
              <a:t>words.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16243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i="1">
                <a:solidFill>
                  <a:srgbClr val="3D4659"/>
                </a:solidFill>
                <a:latin typeface="Calibri"/>
              </a:rPr>
              <a:t>Production-ready Arabic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i="1">
                <a:solidFill>
                  <a:srgbClr val="3D4659"/>
                </a:solidFill>
                <a:latin typeface="Calibri"/>
              </a:rPr>
              <a:t>news systems remain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 i="1">
                <a:solidFill>
                  <a:srgbClr val="3D4659"/>
                </a:solidFill>
                <a:latin typeface="Calibri"/>
              </a:rPr>
              <a:t>scarce in the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Dense Semantic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43F"/>
                </a:solidFill>
                <a:latin typeface="Calibri"/>
              </a:rPr>
              <a:t>Bi-encoder paradigm (DPR, Sentence-BERT): map queries and documents into a shared vector space where geometric proximity approximates meaning.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6243F"/>
                </a:solidFill>
                <a:latin typeface="Calibri"/>
              </a:rPr>
              <a:t>Multilingual E5 (intfloat/multilingual-e5-large): zero-shot across 100+ languages including Arabic — no Arabic-specific fine-tuning.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3D4659"/>
                </a:solidFill>
                <a:latin typeface="Calibri"/>
              </a:rPr>
              <a:t>Engineering-grade and CPU-deployable: the full path runs end-to-end on commodity hardware.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7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700" b="0" i="0">
                <a:solidFill>
                  <a:srgbClr val="3D4659"/>
                </a:solidFill>
                <a:latin typeface="Calibri"/>
              </a:rPr>
              <a:t>One integrated platform: scrape → clean → embed → cluster → search → summarize →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Scrape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52244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2244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Clean + LLM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Preprocess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9452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9452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E5 Embed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UMAP + HDBSCAN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6660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6660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Cosine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Summarize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3868" y="4800600"/>
            <a:ext cx="1325880" cy="64008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3868" y="4818888"/>
            <a:ext cx="1325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6243F"/>
                </a:solidFill>
                <a:latin typeface="Calibri"/>
              </a:rPr>
              <a:t>Streamlit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Architecture — 12-Stage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Four functional layers: acquisition/cleaning/preprocessing · embedding · clustering &amp; search · summarization, evaluation &amp; interface.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Stages communicate via versioned flat files (JSONL / NPY / CSV) — every stage is independently re-runnable.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5821" y="2916936"/>
            <a:ext cx="5820053" cy="3310128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-export-6-7-2026-5_17_06-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685" y="2971800"/>
            <a:ext cx="571032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PIPELINE · STAGES 0–2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Data &amp; Ambiguity-Aware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7498079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16,191 articles scraped from aljazeera.net → 8,635 unique after SimHash de-duplication.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Gemini-powered word-boundary fixer repairs glued / split Arabic tokens at scale.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Three specialized views per article: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5E667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embedding_view — keeps digits &amp; Latin for semantic embedding.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5E667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clustering_view — numbers → typed tokens so TF-IDF focuses on themes.</a:t>
            </a:r>
          </a:p>
          <a:p>
            <a:pPr algn="l" lvl="1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5E6678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lemmas — CAMeL MLE lemmatizer + customized Arabic stopwords.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0116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1945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CORPUS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6974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8C6E2C"/>
                </a:solidFill>
                <a:latin typeface="Calibri"/>
              </a:rPr>
              <a:t>News (Akhbar)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6974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8C6E2C"/>
                </a:solidFill>
                <a:latin typeface="Calibri"/>
              </a:rPr>
              <a:t>40.3%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11810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Unspecified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11810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31.2%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538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Sports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53872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13.8%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9593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Economy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9593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3799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437997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2.5%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8006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8006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4406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5E6678"/>
                </a:solidFill>
                <a:latin typeface="Calibri"/>
              </a:rPr>
              <a:t>News subset = deployed search &amp; topic index.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PIPELINE · STAGES 7–8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Embeddings &amp; Topic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7498079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E5-large encodes each article into a 1,024-d L2-normalized vector — array shape 8,635 × 1,024.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Topic model on the 3,480-article News subset: UMAP (1024→5, cosine) + HDBSCAN (min_cluster=15, min_samples=10).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HDBSCAN needs no preset cluster count, flags a noise class, and gives soft membership confidences.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Labels via class-based TF-IDF (top-3 terms per cluster).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057400"/>
            <a:ext cx="1572768" cy="141732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258568"/>
            <a:ext cx="1572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8C6E2C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953512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D4659"/>
                </a:solidFill>
                <a:latin typeface="Calibri"/>
              </a:rPr>
              <a:t>coherent topics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85832" y="2057400"/>
            <a:ext cx="1572768" cy="141732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85832" y="2258568"/>
            <a:ext cx="1572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8C6E2C"/>
                </a:solidFill>
                <a:latin typeface="Calibri"/>
              </a:rPr>
              <a:t>727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5832" y="2953512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D4659"/>
                </a:solidFill>
                <a:latin typeface="Calibri"/>
              </a:rPr>
              <a:t>noise (20.9%)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621024"/>
            <a:ext cx="1572768" cy="141732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822192"/>
            <a:ext cx="1572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8C6E2C"/>
                </a:solidFill>
                <a:latin typeface="Calibri"/>
              </a:rPr>
              <a:t>0.328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51713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D4659"/>
                </a:solidFill>
                <a:latin typeface="Calibri"/>
              </a:rPr>
              <a:t>topic NPMI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85832" y="3621024"/>
            <a:ext cx="1572768" cy="141732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3822192"/>
            <a:ext cx="15727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8C6E2C"/>
                </a:solidFill>
                <a:latin typeface="Calibri"/>
              </a:rPr>
              <a:t>0.095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4517136"/>
            <a:ext cx="15727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D4659"/>
                </a:solidFill>
                <a:latin typeface="Calibri"/>
              </a:rPr>
              <a:t>silhouette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PIPELINE · STAGE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CPU-Deployable Semantic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70408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Query → 'query:' prefix → E5 encode → cosine over 3,480 normalized vectors in a single NumPy dot product.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Each hit enriched with its topic label + membership probability; optional topic filter for browsing.</a:t>
            </a:r>
          </a:p>
          <a:p>
            <a:pPr algn="l">
              <a:lnSpc>
                <a:spcPct val="106000"/>
              </a:lnSpc>
              <a:spcAft>
                <a:spcPts val="11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Exact cosine beats FAISS below ~100k docs — no quantization overhead; FAISS backend ready for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01168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011680"/>
            <a:ext cx="1691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 i="0">
                <a:solidFill>
                  <a:srgbClr val="8C6E2C"/>
                </a:solidFill>
                <a:latin typeface="Calibri"/>
              </a:rPr>
              <a:t>0.19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011680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3D4659"/>
                </a:solidFill>
                <a:latin typeface="Calibri"/>
              </a:rPr>
              <a:t>mean query latency (CPU, no GPU)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90088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990088"/>
            <a:ext cx="1691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 i="0">
                <a:solidFill>
                  <a:srgbClr val="8C6E2C"/>
                </a:solidFill>
                <a:latin typeface="Calibri"/>
              </a:rPr>
              <a:t>34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990088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3D4659"/>
                </a:solidFill>
                <a:latin typeface="Calibri"/>
              </a:rPr>
              <a:t>embedding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968496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968496"/>
            <a:ext cx="1691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 i="0">
                <a:solidFill>
                  <a:srgbClr val="8C6E2C"/>
                </a:solidFill>
                <a:latin typeface="Calibri"/>
              </a:rPr>
              <a:t>2.1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968496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3D4659"/>
                </a:solidFill>
                <a:latin typeface="Calibri"/>
              </a:rPr>
              <a:t>E5 model weights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946904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4946904"/>
            <a:ext cx="1691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400" b="1" i="0">
                <a:solidFill>
                  <a:srgbClr val="8C6E2C"/>
                </a:solidFill>
                <a:latin typeface="Calibri"/>
              </a:rPr>
              <a:t>&lt; 1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946904"/>
            <a:ext cx="1920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3D4659"/>
                </a:solidFill>
                <a:latin typeface="Calibri"/>
              </a:rPr>
              <a:t>Miller interactive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PIPELINE · STAGE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Faithfulness-First Hybrid Summarization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1">
                <a:solidFill>
                  <a:srgbClr val="3D4659"/>
                </a:solidFill>
                <a:latin typeface="Calibri"/>
              </a:rPr>
              <a:t>Small Arabic abstractive models hallucinate on long news — so the default never fabricates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TIER 1 ·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16243F"/>
                </a:solidFill>
                <a:latin typeface="Calibri"/>
              </a:rPr>
              <a:t>Faithful Extractive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TextRank (PageRank) over an E5 sentence graph + MMR (λ=0.7). Selects original sentences — faithful by construction.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60604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8346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6243F"/>
                </a:solidFill>
                <a:latin typeface="Calibri"/>
              </a:rPr>
              <a:t>TIER 2 · ON-DEMAND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004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16243F"/>
                </a:solidFill>
                <a:latin typeface="Calibri"/>
              </a:rPr>
              <a:t>LLM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023360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gpt-4o-mini repairs residual word-boundary errors and writes a fluent, faithful summary. Opt-in (API key), cached.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260604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8346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6243F"/>
                </a:solidFill>
                <a:latin typeface="Calibri"/>
              </a:rPr>
              <a:t>TIER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20040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16243F"/>
                </a:solidFill>
                <a:latin typeface="Calibri"/>
              </a:rPr>
              <a:t>Key-Point Bullets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4023360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D4659"/>
                </a:solidFill>
                <a:latin typeface="Calibri"/>
              </a:rPr>
              <a:t>Pattern-based scorer over seven Arabic families (speech, events, quantities…) surfaces up to four bullet highlights.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PIPELINE · STAGE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Editorial-Grade Bilingual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9494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Streamlit front-end with a dark editorial theme (#0f172a / gold #c8a96e) and full RTL Arabic (Cairo / Tajawal).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Tab 1 — Semantic Search: ranked cards (score, topic, category, date, snippet) + one-click summary.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Tab 2 — 3D Topic Galaxy: Plotly scatter3d of the UMAP projection, colored by cluster, title on hover.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Real-time breaking-news ticker and a live stats panel (corpus size, #topics, mean latency).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057400"/>
            <a:ext cx="3840480" cy="3840480"/>
          </a:xfrm>
          <a:prstGeom prst="roundRect">
            <a:avLst>
              <a:gd name="adj" fmla="val 6000"/>
            </a:avLst>
          </a:prstGeom>
          <a:solidFill>
            <a:srgbClr val="F6F1E7"/>
          </a:solidFill>
          <a:ln w="9525">
            <a:solidFill>
              <a:srgbClr val="E6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057400"/>
            <a:ext cx="3840480" cy="457200"/>
          </a:xfrm>
          <a:prstGeom prst="roundRect">
            <a:avLst/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5740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3D4659"/>
                </a:solidFill>
                <a:latin typeface="Calibri"/>
              </a:rPr>
              <a:t>⌕  ArabicSeek — بحث دلالي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697480"/>
            <a:ext cx="3383280" cy="82296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788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#1</a:t>
            </a:r>
            <a:r>
              <a:rPr sz="1300" b="1" i="0">
                <a:solidFill>
                  <a:srgbClr val="16243F"/>
                </a:solidFill>
                <a:latin typeface="Calibri"/>
              </a:rPr>
              <a:t>   News headline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181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E6678"/>
                </a:solidFill>
                <a:latin typeface="Calibri"/>
              </a:rPr>
              <a:t>cos 92%  ·  topic  ·  2026-05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383280" cy="82296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#2</a:t>
            </a:r>
            <a:r>
              <a:rPr sz="1300" b="1" i="0">
                <a:solidFill>
                  <a:srgbClr val="16243F"/>
                </a:solidFill>
                <a:latin typeface="Calibri"/>
              </a:rPr>
              <a:t>   News headline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782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E6678"/>
                </a:solidFill>
                <a:latin typeface="Calibri"/>
              </a:rPr>
              <a:t>cos 88%  ·  topic  ·  2026-05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617720"/>
            <a:ext cx="3383280" cy="82296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091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#3</a:t>
            </a:r>
            <a:r>
              <a:rPr sz="1300" b="1" i="0">
                <a:solidFill>
                  <a:srgbClr val="16243F"/>
                </a:solidFill>
                <a:latin typeface="Calibri"/>
              </a:rPr>
              <a:t>   News headline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3834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E6678"/>
                </a:solidFill>
                <a:latin typeface="Calibri"/>
              </a:rPr>
              <a:t>cos 84%  ·  topic  ·  2026-05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Retrieval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30 Arabic queries, 5 domains; top-5 binary relevance by 2 annotators (3rd adjudicates ties).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Mean NDCG@5 = 0.79 vs BM25 0.61  (+0.18)  —  paired Wilcoxon signed-rank test, p &lt; 0.01.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Biggest gains on paraphrastic tech &amp; health queries; sports flat (lexically invariant names).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46120"/>
          <a:ext cx="7498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Query (topic)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Artificial intelligence (tech)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+0.36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Infectious diseases (health)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+0.26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United Nations (politics)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+0.13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Gaza war (politics)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+0.07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Mean (all 30)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+0.18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66760" y="324612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8C6E2C"/>
                </a:solidFill>
                <a:latin typeface="Calibri"/>
              </a:rPr>
              <a:t>+18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70916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6243F"/>
                </a:solidFill>
                <a:latin typeface="Calibri"/>
              </a:rPr>
              <a:t>NDCG@5 points over BM25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0" i="1">
                <a:solidFill>
                  <a:srgbClr val="3D4659"/>
                </a:solidFill>
                <a:latin typeface="Calibri"/>
              </a:rPr>
              <a:t>statistically significant (p &lt; 0.01)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Summarization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3D4659"/>
                </a:solidFill>
                <a:latin typeface="Calibri"/>
              </a:rPr>
              <a:t>Compared seven strategies → faithful extractive chosen (mT5 / AraT5 hallucinated on long articles).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6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6243F"/>
                </a:solidFill>
                <a:latin typeface="Calibri"/>
              </a:rPr>
              <a:t>Intrinsic metrics on 60 articles: deployed TextRank+MMR vs a simpler extractive baseline.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92608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C6E2C"/>
                          </a:solidFill>
                          <a:latin typeface="Calibri"/>
                        </a:rPr>
                        <a:t>Deployed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EFE7D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Number hallucination ↓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8043"/>
                          </a:solidFill>
                          <a:latin typeface="Calibri"/>
                        </a:rPr>
                        <a:t>0.067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Redundancy ↓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0.082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8043"/>
                          </a:solidFill>
                          <a:latin typeface="Calibri"/>
                        </a:rPr>
                        <a:t>0.068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Grounding ↑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0.552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8043"/>
                          </a:solidFill>
                          <a:latin typeface="Calibri"/>
                        </a:rPr>
                        <a:t>0.560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Distinct-2 ↑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0.918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8043"/>
                          </a:solidFill>
                          <a:latin typeface="Calibri"/>
                        </a:rPr>
                        <a:t>0.932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Length (words)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D4659"/>
                          </a:solidFill>
                          <a:latin typeface="Calibri"/>
                        </a:rPr>
                        <a:t>75.2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8043"/>
                          </a:solidFill>
                          <a:latin typeface="Calibri"/>
                        </a:rPr>
                        <a:t>58.9</a:t>
                      </a:r>
                    </a:p>
                  </a:txBody>
                  <a:tcPr anchor="ctr" marL="91440" marR="73152" marT="27432" marB="27432">
                    <a:lnB w="9525" cap="flat">
                      <a:solidFill>
                        <a:srgbClr val="E6DCC8"/>
                      </a:solidFill>
                    </a:lnB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2926080"/>
            <a:ext cx="4023360" cy="292608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2004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8C6E2C"/>
                </a:solidFill>
                <a:latin typeface="Calibri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61188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6243F"/>
                </a:solidFill>
                <a:latin typeface="Calibri"/>
              </a:rPr>
              <a:t>Hallucinated numbers cut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168043"/>
                </a:solidFill>
                <a:latin typeface="Calibri"/>
              </a:rPr>
              <a:t>0.20 → 0.07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0060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D4659"/>
                </a:solidFill>
                <a:latin typeface="Calibri"/>
              </a:rPr>
              <a:t>…while summaries got more concise (75 → 59 words) and more grounded.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300" b="1" i="0">
                <a:solidFill>
                  <a:srgbClr val="16243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920240" cy="381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ArabicSeek  —  Mohammed Almadhoun  ·  Layan Khaddash  ·  Shatha Al-Ghrair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37376"/>
            <a:ext cx="1280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50" b="0" i="0">
                <a:solidFill>
                  <a:srgbClr val="5E6678"/>
                </a:solidFill>
                <a:latin typeface="Calibri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6243F"/>
                </a:solidFill>
                <a:latin typeface="Calibri"/>
              </a:rPr>
              <a:t>ArabicSeek delivers end-to-end Arabic semantic search + faithful summarization on commodity hardware — NDCG@5 0.79 (+18 pts over BM25), sub-second latency, 20 discovered topics.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8C6E2C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5852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Arabic bi-encoder fine-tuning on domain relevance pairs.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Cross-lingual retrieval (English → Arabic via LaBSE).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Neural topic labeling (seq2seq Arabic labels).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Multi-document cluster digests.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500" b="0" i="0">
                <a:solidFill>
                  <a:srgbClr val="8C6E2C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4659"/>
                </a:solidFill>
                <a:latin typeface="Calibri"/>
              </a:rPr>
              <a:t>FAISS backend for million-scale indexes.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063240"/>
            <a:ext cx="4937760" cy="2834640"/>
          </a:xfrm>
          <a:prstGeom prst="roundRect">
            <a:avLst>
              <a:gd name="adj" fmla="val 6000"/>
            </a:avLst>
          </a:prstGeom>
          <a:solidFill>
            <a:srgbClr val="EFE7D5"/>
          </a:solidFill>
          <a:ln w="9525">
            <a:solidFill>
              <a:srgbClr val="E1D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38328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8C6E2C"/>
                </a:solidFill>
                <a:latin typeface="Calibri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11480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6243F"/>
                </a:solidFill>
                <a:latin typeface="Calibri"/>
              </a:rPr>
              <a:t>Mohammed Almadhoun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6243F"/>
                </a:solidFill>
                <a:latin typeface="Calibri"/>
              </a:rPr>
              <a:t>Layan Khaddash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6243F"/>
                </a:solidFill>
                <a:latin typeface="Calibri"/>
              </a:rPr>
              <a:t>Shatha Al-Ghrair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4406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1">
                <a:solidFill>
                  <a:srgbClr val="5E6678"/>
                </a:solidFill>
                <a:latin typeface="Calibri"/>
              </a:rPr>
              <a:t>Middle East University · Amman, Jordan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